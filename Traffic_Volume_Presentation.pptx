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A5B"/>
                </a:solidFill>
                <a:latin typeface="Arial"/>
              </a:rPr>
              <a:t>Average vehicles per hour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5FBF"/>
            </a:solidFill>
            <a:ln w="38100" cap="flat">
              <a:solidFill>
                <a:srgbClr val="1F5F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5FBF"/>
              </a:solidFill>
              <a:ln w="9525" cap="flat">
                <a:solidFill>
                  <a:srgbClr val="1F5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839</c:v>
                </c:pt>
                <c:pt idx="1">
                  <c:v>517</c:v>
                </c:pt>
                <c:pt idx="2">
                  <c:v>389</c:v>
                </c:pt>
                <c:pt idx="3">
                  <c:v>372</c:v>
                </c:pt>
                <c:pt idx="4">
                  <c:v>702</c:v>
                </c:pt>
                <c:pt idx="5">
                  <c:v>2086</c:v>
                </c:pt>
                <c:pt idx="6">
                  <c:v>4153</c:v>
                </c:pt>
                <c:pt idx="7">
                  <c:v>4753</c:v>
                </c:pt>
                <c:pt idx="8">
                  <c:v>4579</c:v>
                </c:pt>
                <c:pt idx="9">
                  <c:v>4381</c:v>
                </c:pt>
                <c:pt idx="10">
                  <c:v>4185</c:v>
                </c:pt>
                <c:pt idx="11">
                  <c:v>4465</c:v>
                </c:pt>
                <c:pt idx="12">
                  <c:v>4714</c:v>
                </c:pt>
                <c:pt idx="13">
                  <c:v>4715</c:v>
                </c:pt>
                <c:pt idx="14">
                  <c:v>4933</c:v>
                </c:pt>
                <c:pt idx="15">
                  <c:v>5246</c:v>
                </c:pt>
                <c:pt idx="16">
                  <c:v>5661</c:v>
                </c:pt>
                <c:pt idx="17">
                  <c:v>5313</c:v>
                </c:pt>
                <c:pt idx="18">
                  <c:v>4266</c:v>
                </c:pt>
                <c:pt idx="19">
                  <c:v>3273</c:v>
                </c:pt>
                <c:pt idx="20">
                  <c:v>2832</c:v>
                </c:pt>
                <c:pt idx="21">
                  <c:v>2671</c:v>
                </c:pt>
                <c:pt idx="22">
                  <c:v>2193</c:v>
                </c:pt>
                <c:pt idx="23">
                  <c:v>1467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A5B"/>
                </a:solidFill>
                <a:latin typeface="Arial"/>
              </a:rPr>
              <a:t>Average traffic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3311</c:v>
                </c:pt>
                <c:pt idx="1">
                  <c:v>3495</c:v>
                </c:pt>
                <c:pt idx="2">
                  <c:v>3580</c:v>
                </c:pt>
                <c:pt idx="3">
                  <c:v>3648</c:v>
                </c:pt>
                <c:pt idx="4">
                  <c:v>3667</c:v>
                </c:pt>
                <c:pt idx="5">
                  <c:v>2765</c:v>
                </c:pt>
                <c:pt idx="6">
                  <c:v>2364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A5B"/>
                </a:solidFill>
                <a:latin typeface="Arial"/>
              </a:rPr>
              <a:t>Average traffic by weather condition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Clouds</c:v>
                  </c:pt>
                  <c:pt idx="1">
                    <c:v>Haze</c:v>
                  </c:pt>
                  <c:pt idx="2">
                    <c:v>Drizzle</c:v>
                  </c:pt>
                  <c:pt idx="3">
                    <c:v>Rain</c:v>
                  </c:pt>
                  <c:pt idx="4">
                    <c:v>Clear</c:v>
                  </c:pt>
                  <c:pt idx="5">
                    <c:v>Snow</c:v>
                  </c:pt>
                  <c:pt idx="6">
                    <c:v>Thunder</c:v>
                  </c:pt>
                  <c:pt idx="7">
                    <c:v>Mist</c:v>
                  </c:pt>
                  <c:pt idx="8">
                    <c:v>Fog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3620</c:v>
                </c:pt>
                <c:pt idx="1">
                  <c:v>3513</c:v>
                </c:pt>
                <c:pt idx="2">
                  <c:v>3308</c:v>
                </c:pt>
                <c:pt idx="3">
                  <c:v>3319</c:v>
                </c:pt>
                <c:pt idx="4">
                  <c:v>3054</c:v>
                </c:pt>
                <c:pt idx="5">
                  <c:v>3031</c:v>
                </c:pt>
                <c:pt idx="6">
                  <c:v>2999</c:v>
                </c:pt>
                <c:pt idx="7">
                  <c:v>2936</c:v>
                </c:pt>
                <c:pt idx="8">
                  <c:v>2679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A5B"/>
                </a:solidFill>
                <a:latin typeface="Arial"/>
              </a:rPr>
              <a:t>R² on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0.196</c:v>
                </c:pt>
                <c:pt idx="1">
                  <c:v>0.927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hour</c:v>
                  </c:pt>
                  <c:pt idx="1">
                    <c:v>day of week</c:v>
                  </c:pt>
                  <c:pt idx="2">
                    <c:v>weekend flag</c:v>
                  </c:pt>
                  <c:pt idx="3">
                    <c:v>temperature</c:v>
                  </c:pt>
                  <c:pt idx="4">
                    <c:v>wind speed</c:v>
                  </c:pt>
                  <c:pt idx="5">
                    <c:v>month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0.838</c:v>
                </c:pt>
                <c:pt idx="1">
                  <c:v>0.061</c:v>
                </c:pt>
                <c:pt idx="2">
                  <c:v>0.049</c:v>
                </c:pt>
                <c:pt idx="3">
                  <c:v>0.02</c:v>
                </c:pt>
                <c:pt idx="4">
                  <c:v>0.011</c:v>
                </c:pt>
                <c:pt idx="5">
                  <c:v>0.009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Interstate Traffic Volume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hourly traffic with weather and calendar data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Machine Learning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783080"/>
            <a:ext cx="960120" cy="960120"/>
          </a:xfrm>
          <a:prstGeom prst="ellipse">
            <a:avLst/>
          </a:prstGeom>
          <a:solidFill>
            <a:srgbClr val="1F5F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 Saad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783080"/>
            <a:ext cx="960120" cy="960120"/>
          </a:xfrm>
          <a:prstGeom prst="ellipse">
            <a:avLst/>
          </a:prstGeom>
          <a:solidFill>
            <a:srgbClr val="1F5F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69080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Mohamed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783080"/>
            <a:ext cx="960120" cy="960120"/>
          </a:xfrm>
          <a:prstGeom prst="ellipse">
            <a:avLst/>
          </a:prstGeom>
          <a:solidFill>
            <a:srgbClr val="1F5F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Emad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71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716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71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4231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4231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4747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evaluation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34747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34747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on a major interstate affects travel time, safety and planning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hourly traffic_volume (vehicles per hour) from weather, holidays and time features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task: supervised regression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helps authorities schedule maintenance, manage signals and inform commuters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48,204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2012 – Sep 2018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2801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0–7,280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range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temp (Kelvin), rain_1h, snow_1h, clouds_all, fog_mm, wind_speed_ms, flood_mm, weather_main / description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date_time, holiday (11 holidays), day_type (Weekday / Weekend)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traffic_volume (mean ≈ 3,261, std ≈ 1,987)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2,410 missing values in each of temp, rain_1h, snow_1h, clouds_all and the target traffic_volume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temperatures: 10 records at 0 K (impossible)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outlier: rain_1h = 9,831 mm in a single hour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values: fog_mm up to 499 and flood_mm up to 408 (hundreds of records above 100)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is empty for 99.9% of rows (only 61 holiday records)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timestamps (7,629) – multiple weather rows for the same hour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rows with missing target (48,204 → 45,794 records)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values (temp &lt; 200 K, rain_1h &gt; 100 mm) set to missing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missing numeric values imputed with the median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temperature from Kelvin to Celsius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date_time and extracted hour, day of week, month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converted to a binary flag; categorical features one-hot encoded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split: first 80% train, last 20% test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by Hour of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7830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peaks: morning rush (≈7 AM) and evening rush (≈4–5 PM)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≈ 5,660 vehicles at 4 PM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minimum ≈ 370 at 3 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is the dominant pattern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vs. Weekends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7830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average ≈ 3,538 vs. weekend ≈ 2,564 (−28%)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busiest 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is the quietest 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by month is mild (≈3,000–3,400)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Weather Matter?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7830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weather types are small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traffic: temp 0.13, clouds 0.07, rain/snow/wind ≈ 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shows the lowest traffic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 explain far more than weather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holiday flag, hour, day of week, month, day type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202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(baseline)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(200 trees)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RMSE on the time-ordered test set (last 20%)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82296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663440" y="32004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cuts the average error from ≈1,545 to ≈300 vehicles per hour.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7830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alone ≈ 84% of importance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features come next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features contribute very little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mainly driven by commuting routines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follows strong daily and weekly commuting patterns, with rush-hour peaks and lower weekend volume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explains ≈93% of variance (R² 0.927) versus 0.196 for the linear baseline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has only a minor effect once time features are included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 lag features (previous hours), tune hyperparameters, try Gradient Boosting / XGBoost, and handle fog/flood outliers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7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 Interstate Traffic Volume</dc:title>
  <dc:subject>PptxGenJS Presentation</dc:subject>
  <dc:creator>PptxGenJS</dc:creator>
  <cp:lastModifiedBy>PptxGenJS</cp:lastModifiedBy>
  <cp:revision>1</cp:revision>
  <dcterms:created xsi:type="dcterms:W3CDTF">2026-10-04T16:37:03Z</dcterms:created>
  <dcterms:modified xsi:type="dcterms:W3CDTF">2026-10-04T16:37:03Z</dcterms:modified>
</cp:coreProperties>
</file>